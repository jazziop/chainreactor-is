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ccentBar"/>
          <p:cNvSpPr>
            <a:spLocks noGrp="1"/>
          </p:cNvSpPr>
          <p:nvPr/>
        </p:nvSpPr>
        <p:spPr>
          <a:xfrm>
            <a:off x="0" y="0"/>
            <a:ext cx="380000" cy="6858000"/>
          </a:xfrm>
          <a:prstGeom prst="rect">
            <a:avLst/>
          </a:prstGeom>
          <a:solidFill>
            <a:srgbClr val="00FF9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BottomStrip"/>
          <p:cNvSpPr>
            <a:spLocks noGrp="1"/>
          </p:cNvSpPr>
          <p:nvPr/>
        </p:nvSpPr>
        <p:spPr>
          <a:xfrm>
            <a:off x="0" y="6200000"/>
            <a:ext cx="9144000" cy="6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Badge"/>
          <p:cNvSpPr>
            <a:spLocks noGrp="1"/>
          </p:cNvSpPr>
          <p:nvPr/>
        </p:nvSpPr>
        <p:spPr>
          <a:xfrm>
            <a:off x="560000" y="950000"/>
            <a:ext cx="2600000" cy="360000"/>
          </a:xfrm>
          <a:prstGeom prst="roundRect">
            <a:avLst>
              <a:gd name="adj" fmla="val 15000"/>
            </a:avLst>
          </a:prstGeom>
          <a:solidFill>
            <a:srgbClr val="00FF9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0D1117"/>
                </a:solidFill>
              </a:rPr>
              <a:t>USENIX SECURITY 2024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000" y="1500000"/>
            <a:ext cx="8000000" cy="2200000"/>
          </a:xfrm>
        </p:spPr>
        <p:txBody>
          <a:bodyPr anchor="t"/>
          <a:lstStyle/>
          <a:p>
            <a:pPr algn="l"/>
            <a:r>
              <a:rPr lang="en-US" sz="4400" b="1">
                <a:solidFill>
                  <a:srgbClr val="FFFFFF"/>
                </a:solidFill>
              </a:rPr>
              <a:t>ChainReactor</a:t>
            </a:r>
          </a:p>
          <a:p>
            <a:pPr algn="l"/>
            <a:r>
              <a:rPr lang="en-US" sz="2000">
                <a:solidFill>
                  <a:srgbClr val="8B949E"/>
                </a:solidFill>
              </a:rPr>
              <a:t>Automated Privilege Escalation Chain Discovery via AI Planning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60000" y="3950000"/>
            <a:ext cx="80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400">
                <a:solidFill>
                  <a:srgbClr val="00FF9F"/>
                </a:solidFill>
              </a:rPr>
              <a:t>Research Paper Presentation</a:t>
            </a:r>
          </a:p>
          <a:p>
            <a:pPr algn="l">
              <a:buNone/>
            </a:pPr>
            <a:r>
              <a:rPr lang="en-US" sz="1200">
                <a:solidFill>
                  <a:srgbClr val="8B949E"/>
                </a:solidFill>
              </a:rPr>
              <a:t>AI-driven privilege escalation discovery  ·  Paper + GitHub implementation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opBar"/>
          <p:cNvSpPr>
            <a:spLocks noGrp="1"/>
          </p:cNvSpPr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000" y="0"/>
            <a:ext cx="8200000" cy="760000"/>
          </a:xfrm>
        </p:spPr>
        <p:txBody>
          <a:bodyPr anchor="ctr"/>
          <a:lstStyle/>
          <a:p>
            <a:pPr algn="l"/>
            <a:r>
              <a:rPr lang="en-US" sz="2400" b="1">
                <a:solidFill>
                  <a:srgbClr val="58A6FF"/>
                </a:solidFill>
              </a:rPr>
              <a:t>Background &amp; Problem Statement</a:t>
            </a:r>
          </a:p>
        </p:txBody>
      </p:sp>
      <p:sp>
        <p:nvSpPr>
          <p:cNvPr id="20" name="card20"/>
          <p:cNvSpPr>
            <a:spLocks noGrp="1"/>
          </p:cNvSpPr>
          <p:nvPr/>
        </p:nvSpPr>
        <p:spPr>
          <a:xfrm>
            <a:off x="460000" y="900000"/>
            <a:ext cx="3900000" cy="12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ard21"/>
          <p:cNvSpPr>
            <a:spLocks noGrp="1"/>
          </p:cNvSpPr>
          <p:nvPr/>
        </p:nvSpPr>
        <p:spPr>
          <a:xfrm>
            <a:off x="4784000" y="900000"/>
            <a:ext cx="3900000" cy="12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card22"/>
          <p:cNvSpPr>
            <a:spLocks noGrp="1"/>
          </p:cNvSpPr>
          <p:nvPr/>
        </p:nvSpPr>
        <p:spPr>
          <a:xfrm>
            <a:off x="460000" y="2300000"/>
            <a:ext cx="3900000" cy="12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card23"/>
          <p:cNvSpPr>
            <a:spLocks noGrp="1"/>
          </p:cNvSpPr>
          <p:nvPr/>
        </p:nvSpPr>
        <p:spPr>
          <a:xfrm>
            <a:off x="4784000" y="2300000"/>
            <a:ext cx="3900000" cy="12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dot30"/>
          <p:cNvSpPr>
            <a:spLocks noGrp="1"/>
          </p:cNvSpPr>
          <p:nvPr/>
        </p:nvSpPr>
        <p:spPr>
          <a:xfrm>
            <a:off x="580000" y="970000"/>
            <a:ext cx="320000" cy="320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dot31"/>
          <p:cNvSpPr>
            <a:spLocks noGrp="1"/>
          </p:cNvSpPr>
          <p:nvPr/>
        </p:nvSpPr>
        <p:spPr>
          <a:xfrm>
            <a:off x="4904000" y="970000"/>
            <a:ext cx="320000" cy="320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dot32"/>
          <p:cNvSpPr>
            <a:spLocks noGrp="1"/>
          </p:cNvSpPr>
          <p:nvPr/>
        </p:nvSpPr>
        <p:spPr>
          <a:xfrm>
            <a:off x="580000" y="2370000"/>
            <a:ext cx="320000" cy="320000"/>
          </a:xfrm>
          <a:prstGeom prst="ellipse">
            <a:avLst/>
          </a:prstGeom>
          <a:solidFill>
            <a:srgbClr val="00FF9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dot33"/>
          <p:cNvSpPr>
            <a:spLocks noGrp="1"/>
          </p:cNvSpPr>
          <p:nvPr/>
        </p:nvSpPr>
        <p:spPr>
          <a:xfrm>
            <a:off x="4904000" y="2370000"/>
            <a:ext cx="320000" cy="320000"/>
          </a:xfrm>
          <a:prstGeom prst="ellipse">
            <a:avLst/>
          </a:prstGeom>
          <a:solidFill>
            <a:srgbClr val="00FF9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tb40"/>
          <p:cNvSpPr txBox="1"/>
          <p:nvPr/>
        </p:nvSpPr>
        <p:spPr>
          <a:xfrm>
            <a:off x="980000" y="960000"/>
            <a:ext cx="3250000" cy="10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600" b="1" i="0">
                <a:solidFill>
                  <a:srgbClr val="FFFFFF"/>
                </a:solidFill>
              </a:rPr>
              <a:t>Privilege Escalation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5304000" y="960000"/>
            <a:ext cx="3250000" cy="10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600" b="1" i="0">
                <a:solidFill>
                  <a:srgbClr val="FFFFFF"/>
                </a:solidFill>
              </a:rPr>
              <a:t>Traditional Scanners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980000" y="2360000"/>
            <a:ext cx="3250000" cy="10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600" b="1" i="0">
                <a:solidFill>
                  <a:srgbClr val="FFFFFF"/>
                </a:solidFill>
              </a:rPr>
              <a:t>Real Attacks</a:t>
            </a:r>
          </a:p>
        </p:txBody>
      </p:sp>
      <p:sp>
        <p:nvSpPr>
          <p:cNvPr id="43" name="tb43"/>
          <p:cNvSpPr txBox="1"/>
          <p:nvPr/>
        </p:nvSpPr>
        <p:spPr>
          <a:xfrm>
            <a:off x="5304000" y="2360000"/>
            <a:ext cx="3250000" cy="10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600" b="1" i="0">
                <a:solidFill>
                  <a:srgbClr val="FFFFFF"/>
                </a:solidFill>
              </a:rPr>
              <a:t>ChainReactor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980000" y="1300000"/>
            <a:ext cx="328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 dirty="0">
                <a:solidFill>
                  <a:srgbClr val="8B949E"/>
                </a:solidFill>
              </a:rPr>
              <a:t>Allows attackers to gain admin / root access on a system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5304000" y="1302867"/>
            <a:ext cx="328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 dirty="0">
                <a:solidFill>
                  <a:srgbClr val="8B949E"/>
                </a:solidFill>
              </a:rPr>
              <a:t>Only detect single vulnerabilities in isolation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980000" y="2762267"/>
            <a:ext cx="328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 dirty="0">
                <a:solidFill>
                  <a:srgbClr val="8B949E"/>
                </a:solidFill>
              </a:rPr>
              <a:t>Combine multiple vulns &amp; misconfigurations in chains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5339000" y="2758000"/>
            <a:ext cx="328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 dirty="0">
                <a:solidFill>
                  <a:srgbClr val="00FF9F"/>
                </a:solidFill>
              </a:rPr>
              <a:t>Auto-discovers multi-step attack chains end-to-end</a:t>
            </a:r>
          </a:p>
        </p:txBody>
      </p:sp>
      <p:sp>
        <p:nvSpPr>
          <p:cNvPr id="60" name="card60"/>
          <p:cNvSpPr>
            <a:spLocks noGrp="1"/>
          </p:cNvSpPr>
          <p:nvPr/>
        </p:nvSpPr>
        <p:spPr>
          <a:xfrm>
            <a:off x="460000" y="3700000"/>
            <a:ext cx="8224000" cy="580000"/>
          </a:xfrm>
          <a:prstGeom prst="roundRect">
            <a:avLst>
              <a:gd name="adj" fmla="val 10000"/>
            </a:avLst>
          </a:prstGeom>
          <a:solidFill>
            <a:srgbClr val="0F2A1E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tb61"/>
          <p:cNvSpPr txBox="1"/>
          <p:nvPr/>
        </p:nvSpPr>
        <p:spPr>
          <a:xfrm>
            <a:off x="710000" y="3840000"/>
            <a:ext cx="770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300" b="0" i="1">
                <a:solidFill>
                  <a:srgbClr val="00FF9F"/>
                </a:solidFill>
              </a:rPr>
              <a:t>The gap: scanners see trees, attackers see the whole forest. ChainReactor bridges this.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opBar"/>
          <p:cNvSpPr>
            <a:spLocks noGrp="1"/>
          </p:cNvSpPr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000" y="0"/>
            <a:ext cx="8200000" cy="760000"/>
          </a:xfrm>
        </p:spPr>
        <p:txBody>
          <a:bodyPr anchor="ctr"/>
          <a:lstStyle/>
          <a:p>
            <a:pPr algn="l"/>
            <a:r>
              <a:rPr lang="en-US" sz="2400" b="1">
                <a:solidFill>
                  <a:srgbClr val="00FF9F"/>
                </a:solidFill>
              </a:rPr>
              <a:t>Core Idea of ChainReactor</a:t>
            </a:r>
          </a:p>
        </p:txBody>
      </p:sp>
      <p:sp>
        <p:nvSpPr>
          <p:cNvPr id="20" name="card20"/>
          <p:cNvSpPr>
            <a:spLocks noGrp="1"/>
          </p:cNvSpPr>
          <p:nvPr/>
        </p:nvSpPr>
        <p:spPr>
          <a:xfrm>
            <a:off x="460000" y="949200"/>
            <a:ext cx="1750000" cy="38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ard21"/>
          <p:cNvSpPr>
            <a:spLocks noGrp="1"/>
          </p:cNvSpPr>
          <p:nvPr/>
        </p:nvSpPr>
        <p:spPr>
          <a:xfrm>
            <a:off x="2540000" y="950000"/>
            <a:ext cx="1750000" cy="38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card22"/>
          <p:cNvSpPr>
            <a:spLocks noGrp="1"/>
          </p:cNvSpPr>
          <p:nvPr/>
        </p:nvSpPr>
        <p:spPr>
          <a:xfrm>
            <a:off x="4620000" y="950000"/>
            <a:ext cx="1750000" cy="38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card23"/>
          <p:cNvSpPr>
            <a:spLocks noGrp="1"/>
          </p:cNvSpPr>
          <p:nvPr/>
        </p:nvSpPr>
        <p:spPr>
          <a:xfrm>
            <a:off x="6700000" y="950000"/>
            <a:ext cx="1597333" cy="38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dot30"/>
          <p:cNvSpPr>
            <a:spLocks noGrp="1"/>
          </p:cNvSpPr>
          <p:nvPr/>
        </p:nvSpPr>
        <p:spPr>
          <a:xfrm>
            <a:off x="990000" y="1000000"/>
            <a:ext cx="500000" cy="500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dot31"/>
          <p:cNvSpPr>
            <a:spLocks noGrp="1"/>
          </p:cNvSpPr>
          <p:nvPr/>
        </p:nvSpPr>
        <p:spPr>
          <a:xfrm>
            <a:off x="3070000" y="1000000"/>
            <a:ext cx="500000" cy="500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dot32"/>
          <p:cNvSpPr>
            <a:spLocks noGrp="1"/>
          </p:cNvSpPr>
          <p:nvPr/>
        </p:nvSpPr>
        <p:spPr>
          <a:xfrm>
            <a:off x="5150000" y="1000000"/>
            <a:ext cx="500000" cy="500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dot33"/>
          <p:cNvSpPr>
            <a:spLocks noGrp="1"/>
          </p:cNvSpPr>
          <p:nvPr/>
        </p:nvSpPr>
        <p:spPr>
          <a:xfrm>
            <a:off x="7230000" y="1000000"/>
            <a:ext cx="500000" cy="500000"/>
          </a:xfrm>
          <a:prstGeom prst="ellipse">
            <a:avLst/>
          </a:prstGeom>
          <a:solidFill>
            <a:srgbClr val="00FF9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tb40"/>
          <p:cNvSpPr txBox="1"/>
          <p:nvPr/>
        </p:nvSpPr>
        <p:spPr>
          <a:xfrm>
            <a:off x="1103800" y="1090000"/>
            <a:ext cx="5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6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3180000" y="1090000"/>
            <a:ext cx="5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600" b="1" i="0" dirty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5260000" y="1090000"/>
            <a:ext cx="5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600" b="1" i="0" dirty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43" name="tb43"/>
          <p:cNvSpPr txBox="1"/>
          <p:nvPr/>
        </p:nvSpPr>
        <p:spPr>
          <a:xfrm>
            <a:off x="7343933" y="1090000"/>
            <a:ext cx="5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6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2145000" y="2500000"/>
            <a:ext cx="25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2400" b="1" i="0" dirty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4240000" y="2500000"/>
            <a:ext cx="25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2400" b="1" i="0" dirty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6320000" y="2500000"/>
            <a:ext cx="25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2400" b="1" i="0" dirty="0">
                <a:solidFill>
                  <a:srgbClr val="00FF9F"/>
                </a:solidFill>
              </a:rPr>
              <a:t>→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500000" y="1600000"/>
            <a:ext cx="166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FFFFFF"/>
                </a:solidFill>
              </a:rPr>
              <a:t>Collect System Info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2580000" y="1600000"/>
            <a:ext cx="166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FFFFFF"/>
                </a:solidFill>
              </a:rPr>
              <a:t>PDDL Conversion</a:t>
            </a:r>
          </a:p>
        </p:txBody>
      </p:sp>
      <p:sp>
        <p:nvSpPr>
          <p:cNvPr id="62" name="tb62"/>
          <p:cNvSpPr txBox="1"/>
          <p:nvPr/>
        </p:nvSpPr>
        <p:spPr>
          <a:xfrm>
            <a:off x="4660000" y="1600000"/>
            <a:ext cx="166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FFFFFF"/>
                </a:solidFill>
              </a:rPr>
              <a:t>AI Planner Search</a:t>
            </a:r>
          </a:p>
        </p:txBody>
      </p:sp>
      <p:sp>
        <p:nvSpPr>
          <p:cNvPr id="63" name="tb63"/>
          <p:cNvSpPr txBox="1"/>
          <p:nvPr/>
        </p:nvSpPr>
        <p:spPr>
          <a:xfrm>
            <a:off x="6740000" y="1600000"/>
            <a:ext cx="166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00FF9F"/>
                </a:solidFill>
              </a:rPr>
              <a:t>Chain Output</a:t>
            </a:r>
          </a:p>
        </p:txBody>
      </p:sp>
      <p:sp>
        <p:nvSpPr>
          <p:cNvPr id="70" name="tb70"/>
          <p:cNvSpPr txBox="1"/>
          <p:nvPr/>
        </p:nvSpPr>
        <p:spPr>
          <a:xfrm>
            <a:off x="500000" y="2200000"/>
            <a:ext cx="1660000" cy="2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100" b="0" i="0">
                <a:solidFill>
                  <a:srgbClr val="8B949E"/>
                </a:solidFill>
              </a:rPr>
              <a:t>Permissions, binaries, sudo rules, installed packages</a:t>
            </a:r>
          </a:p>
        </p:txBody>
      </p:sp>
      <p:sp>
        <p:nvSpPr>
          <p:cNvPr id="71" name="tb71"/>
          <p:cNvSpPr txBox="1"/>
          <p:nvPr/>
        </p:nvSpPr>
        <p:spPr>
          <a:xfrm>
            <a:off x="2580000" y="2200000"/>
            <a:ext cx="1660000" cy="2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100" b="0" i="0">
                <a:solidFill>
                  <a:srgbClr val="8B949E"/>
                </a:solidFill>
              </a:rPr>
              <a:t>System state converted to Planning Domain Definition Language</a:t>
            </a:r>
          </a:p>
        </p:txBody>
      </p:sp>
      <p:sp>
        <p:nvSpPr>
          <p:cNvPr id="72" name="tb72"/>
          <p:cNvSpPr txBox="1"/>
          <p:nvPr/>
        </p:nvSpPr>
        <p:spPr>
          <a:xfrm>
            <a:off x="4660000" y="2200000"/>
            <a:ext cx="1660000" cy="2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100" b="0" i="0">
                <a:solidFill>
                  <a:srgbClr val="8B949E"/>
                </a:solidFill>
              </a:rPr>
              <a:t>Search over action sequences to reach privileged state</a:t>
            </a:r>
          </a:p>
        </p:txBody>
      </p:sp>
      <p:sp>
        <p:nvSpPr>
          <p:cNvPr id="73" name="tb73"/>
          <p:cNvSpPr txBox="1"/>
          <p:nvPr/>
        </p:nvSpPr>
        <p:spPr>
          <a:xfrm>
            <a:off x="6740000" y="2200000"/>
            <a:ext cx="1660000" cy="2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100" b="0" i="0">
                <a:solidFill>
                  <a:srgbClr val="00FF9F"/>
                </a:solidFill>
              </a:rPr>
              <a:t>Complete privilege escalation chain generated automatically</a:t>
            </a:r>
          </a:p>
        </p:txBody>
      </p:sp>
      <p:sp>
        <p:nvSpPr>
          <p:cNvPr id="80" name="card80"/>
          <p:cNvSpPr>
            <a:spLocks noGrp="1"/>
          </p:cNvSpPr>
          <p:nvPr/>
        </p:nvSpPr>
        <p:spPr>
          <a:xfrm>
            <a:off x="460000" y="5050000"/>
            <a:ext cx="8224000" cy="560000"/>
          </a:xfrm>
          <a:prstGeom prst="roundRect">
            <a:avLst>
              <a:gd name="adj" fmla="val 10000"/>
            </a:avLst>
          </a:prstGeom>
          <a:solidFill>
            <a:srgbClr val="0F2A1E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tb81"/>
          <p:cNvSpPr txBox="1"/>
          <p:nvPr/>
        </p:nvSpPr>
        <p:spPr>
          <a:xfrm>
            <a:off x="700000" y="5110000"/>
            <a:ext cx="77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300" b="0" i="1">
                <a:solidFill>
                  <a:srgbClr val="00FF9F"/>
                </a:solidFill>
              </a:rPr>
              <a:t>Key insight: model the system as a planning problem — then let AI find the exploit 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opBar"/>
          <p:cNvSpPr>
            <a:spLocks noGrp="1"/>
          </p:cNvSpPr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000" y="0"/>
            <a:ext cx="8200000" cy="760000"/>
          </a:xfrm>
        </p:spPr>
        <p:txBody>
          <a:bodyPr anchor="ctr"/>
          <a:lstStyle/>
          <a:p>
            <a:pPr algn="l"/>
            <a:r>
              <a:rPr lang="en-US" sz="2400" b="1">
                <a:solidFill>
                  <a:srgbClr val="58A6FF"/>
                </a:solidFill>
              </a:rPr>
              <a:t>System Architecture</a:t>
            </a:r>
          </a:p>
        </p:txBody>
      </p:sp>
      <p:sp>
        <p:nvSpPr>
          <p:cNvPr id="20" name="card20"/>
          <p:cNvSpPr>
            <a:spLocks noGrp="1"/>
          </p:cNvSpPr>
          <p:nvPr/>
        </p:nvSpPr>
        <p:spPr>
          <a:xfrm>
            <a:off x="460000" y="950000"/>
            <a:ext cx="3500000" cy="47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b25"/>
          <p:cNvSpPr txBox="1"/>
          <p:nvPr/>
        </p:nvSpPr>
        <p:spPr>
          <a:xfrm>
            <a:off x="600000" y="1000000"/>
            <a:ext cx="32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000" b="1" i="0">
                <a:solidFill>
                  <a:srgbClr val="58A6FF"/>
                </a:solidFill>
              </a:rPr>
              <a:t>PIPELINE</a:t>
            </a:r>
          </a:p>
        </p:txBody>
      </p:sp>
      <p:sp>
        <p:nvSpPr>
          <p:cNvPr id="30" name="card30"/>
          <p:cNvSpPr>
            <a:spLocks noGrp="1"/>
          </p:cNvSpPr>
          <p:nvPr/>
        </p:nvSpPr>
        <p:spPr>
          <a:xfrm>
            <a:off x="580000" y="1470000"/>
            <a:ext cx="3260000" cy="5800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ard31"/>
          <p:cNvSpPr>
            <a:spLocks noGrp="1"/>
          </p:cNvSpPr>
          <p:nvPr/>
        </p:nvSpPr>
        <p:spPr>
          <a:xfrm>
            <a:off x="580000" y="2180000"/>
            <a:ext cx="3260000" cy="5800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card32"/>
          <p:cNvSpPr>
            <a:spLocks noGrp="1"/>
          </p:cNvSpPr>
          <p:nvPr/>
        </p:nvSpPr>
        <p:spPr>
          <a:xfrm>
            <a:off x="580000" y="2890000"/>
            <a:ext cx="3260000" cy="5800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card33"/>
          <p:cNvSpPr>
            <a:spLocks noGrp="1"/>
          </p:cNvSpPr>
          <p:nvPr/>
        </p:nvSpPr>
        <p:spPr>
          <a:xfrm>
            <a:off x="580000" y="3600000"/>
            <a:ext cx="3260000" cy="5800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ard34"/>
          <p:cNvSpPr>
            <a:spLocks noGrp="1"/>
          </p:cNvSpPr>
          <p:nvPr/>
        </p:nvSpPr>
        <p:spPr>
          <a:xfrm>
            <a:off x="580000" y="4310000"/>
            <a:ext cx="3260000" cy="580000"/>
          </a:xfrm>
          <a:prstGeom prst="roundRect">
            <a:avLst>
              <a:gd name="adj" fmla="val 10000"/>
            </a:avLst>
          </a:prstGeom>
          <a:solidFill>
            <a:srgbClr val="0F2A1E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tb40"/>
          <p:cNvSpPr txBox="1"/>
          <p:nvPr/>
        </p:nvSpPr>
        <p:spPr>
          <a:xfrm>
            <a:off x="900000" y="1520000"/>
            <a:ext cx="28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58A6FF"/>
                </a:solidFill>
              </a:rPr>
              <a:t>Data Extractor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900000" y="2230000"/>
            <a:ext cx="28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58A6FF"/>
                </a:solidFill>
              </a:rPr>
              <a:t>Vulnerability Analyzer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900000" y="2940000"/>
            <a:ext cx="28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58A6FF"/>
                </a:solidFill>
              </a:rPr>
              <a:t>PDDL Generator</a:t>
            </a:r>
          </a:p>
        </p:txBody>
      </p:sp>
      <p:sp>
        <p:nvSpPr>
          <p:cNvPr id="43" name="tb43"/>
          <p:cNvSpPr txBox="1"/>
          <p:nvPr/>
        </p:nvSpPr>
        <p:spPr>
          <a:xfrm>
            <a:off x="900000" y="3650000"/>
            <a:ext cx="28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58A6FF"/>
                </a:solidFill>
              </a:rPr>
              <a:t>AI Planner</a:t>
            </a:r>
          </a:p>
        </p:txBody>
      </p:sp>
      <p:sp>
        <p:nvSpPr>
          <p:cNvPr id="44" name="tb44"/>
          <p:cNvSpPr txBox="1"/>
          <p:nvPr/>
        </p:nvSpPr>
        <p:spPr>
          <a:xfrm>
            <a:off x="900000" y="4360000"/>
            <a:ext cx="280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00FF9F"/>
                </a:solidFill>
              </a:rPr>
              <a:t>Chain Generator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2000000" y="2060000"/>
            <a:ext cx="400000" cy="1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2000000" y="2770000"/>
            <a:ext cx="400000" cy="1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2000000" y="3480000"/>
            <a:ext cx="400000" cy="1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2000000" y="4190000"/>
            <a:ext cx="400000" cy="1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4200000" y="950000"/>
            <a:ext cx="45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600" b="1" i="0">
                <a:solidFill>
                  <a:srgbClr val="FFFFFF"/>
                </a:solidFill>
              </a:rPr>
              <a:t>Component Details</a:t>
            </a:r>
          </a:p>
        </p:txBody>
      </p:sp>
      <p:sp>
        <p:nvSpPr>
          <p:cNvPr id="61" name="ml61"/>
          <p:cNvSpPr txBox="1"/>
          <p:nvPr/>
        </p:nvSpPr>
        <p:spPr>
          <a:xfrm>
            <a:off x="4200000" y="1450000"/>
            <a:ext cx="4500000" cy="40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00FF9F"/>
                </a:solidFill>
              </a:rPr>
              <a:t>Data Extractor  </a:t>
            </a:r>
            <a:r>
              <a:rPr lang="en-US" sz="1200">
                <a:solidFill>
                  <a:srgbClr val="8B949E"/>
                </a:solidFill>
              </a:rPr>
              <a:t>Collects system info — permissions, binaries, sudo rules</a:t>
            </a:r>
          </a:p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00FF9F"/>
                </a:solidFill>
              </a:rPr>
              <a:t>Vulnerability Analyzer  </a:t>
            </a:r>
            <a:r>
              <a:rPr lang="en-US" sz="1200">
                <a:solidFill>
                  <a:srgbClr val="8B949E"/>
                </a:solidFill>
              </a:rPr>
              <a:t>Detects exploitable conditions and weak configurations</a:t>
            </a:r>
          </a:p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00FF9F"/>
                </a:solidFill>
              </a:rPr>
              <a:t>PDDL Generator  </a:t>
            </a:r>
            <a:r>
              <a:rPr lang="en-US" sz="1200">
                <a:solidFill>
                  <a:srgbClr val="8B949E"/>
                </a:solidFill>
              </a:rPr>
              <a:t>Builds a formal planning model from the collected state</a:t>
            </a:r>
          </a:p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00FF9F"/>
                </a:solidFill>
              </a:rPr>
              <a:t>AI Planner  </a:t>
            </a:r>
            <a:r>
              <a:rPr lang="en-US" sz="1200">
                <a:solidFill>
                  <a:srgbClr val="8B949E"/>
                </a:solidFill>
              </a:rPr>
              <a:t>Searches optimal attack paths using automated reasoning</a:t>
            </a:r>
          </a:p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00FF9F"/>
                </a:solidFill>
              </a:rPr>
              <a:t>Chain Generator  </a:t>
            </a:r>
            <a:r>
              <a:rPr lang="en-US" sz="1200">
                <a:solidFill>
                  <a:srgbClr val="8B949E"/>
                </a:solidFill>
              </a:rPr>
              <a:t>Produces the final, executable escalation chain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opBar"/>
          <p:cNvSpPr>
            <a:spLocks noGrp="1"/>
          </p:cNvSpPr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000" y="0"/>
            <a:ext cx="8200000" cy="760000"/>
          </a:xfrm>
        </p:spPr>
        <p:txBody>
          <a:bodyPr anchor="ctr"/>
          <a:lstStyle/>
          <a:p>
            <a:pPr algn="l"/>
            <a:r>
              <a:rPr lang="en-US" sz="2400" b="1">
                <a:solidFill>
                  <a:srgbClr val="00FF9F"/>
                </a:solidFill>
              </a:rPr>
              <a:t>GitHub Repository &amp; Code Structure</a:t>
            </a:r>
          </a:p>
        </p:txBody>
      </p:sp>
      <p:sp>
        <p:nvSpPr>
          <p:cNvPr id="20" name="card20"/>
          <p:cNvSpPr>
            <a:spLocks noGrp="1"/>
          </p:cNvSpPr>
          <p:nvPr/>
        </p:nvSpPr>
        <p:spPr>
          <a:xfrm>
            <a:off x="460000" y="950000"/>
            <a:ext cx="8224000" cy="540000"/>
          </a:xfrm>
          <a:prstGeom prst="roundRect">
            <a:avLst>
              <a:gd name="adj" fmla="val 10000"/>
            </a:avLst>
          </a:prstGeom>
          <a:solidFill>
            <a:srgbClr val="0F2A1E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b21"/>
          <p:cNvSpPr txBox="1"/>
          <p:nvPr/>
        </p:nvSpPr>
        <p:spPr>
          <a:xfrm>
            <a:off x="700000" y="1020000"/>
            <a:ext cx="77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600" b="1" i="0">
                <a:solidFill>
                  <a:srgbClr val="00FF9F"/>
                </a:solidFill>
              </a:rPr>
              <a:t>github.com/ucsb-seclab/chainreactor</a:t>
            </a:r>
          </a:p>
        </p:txBody>
      </p:sp>
      <p:sp>
        <p:nvSpPr>
          <p:cNvPr id="30" name="card30"/>
          <p:cNvSpPr>
            <a:spLocks noGrp="1"/>
          </p:cNvSpPr>
          <p:nvPr/>
        </p:nvSpPr>
        <p:spPr>
          <a:xfrm>
            <a:off x="460000" y="1700000"/>
            <a:ext cx="3800000" cy="13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ard31"/>
          <p:cNvSpPr>
            <a:spLocks noGrp="1"/>
          </p:cNvSpPr>
          <p:nvPr/>
        </p:nvSpPr>
        <p:spPr>
          <a:xfrm>
            <a:off x="4584000" y="1700000"/>
            <a:ext cx="3800000" cy="13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card32"/>
          <p:cNvSpPr>
            <a:spLocks noGrp="1"/>
          </p:cNvSpPr>
          <p:nvPr/>
        </p:nvSpPr>
        <p:spPr>
          <a:xfrm>
            <a:off x="460000" y="3200000"/>
            <a:ext cx="3800000" cy="13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card33"/>
          <p:cNvSpPr>
            <a:spLocks noGrp="1"/>
          </p:cNvSpPr>
          <p:nvPr/>
        </p:nvSpPr>
        <p:spPr>
          <a:xfrm>
            <a:off x="4584000" y="3200000"/>
            <a:ext cx="3800000" cy="13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dot40"/>
          <p:cNvSpPr>
            <a:spLocks noGrp="1"/>
          </p:cNvSpPr>
          <p:nvPr/>
        </p:nvSpPr>
        <p:spPr>
          <a:xfrm>
            <a:off x="560000" y="1760000"/>
            <a:ext cx="380000" cy="380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dot41"/>
          <p:cNvSpPr>
            <a:spLocks noGrp="1"/>
          </p:cNvSpPr>
          <p:nvPr/>
        </p:nvSpPr>
        <p:spPr>
          <a:xfrm>
            <a:off x="4684000" y="1760000"/>
            <a:ext cx="380000" cy="380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dot42"/>
          <p:cNvSpPr>
            <a:spLocks noGrp="1"/>
          </p:cNvSpPr>
          <p:nvPr/>
        </p:nvSpPr>
        <p:spPr>
          <a:xfrm>
            <a:off x="560000" y="3260000"/>
            <a:ext cx="380000" cy="380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dot43"/>
          <p:cNvSpPr>
            <a:spLocks noGrp="1"/>
          </p:cNvSpPr>
          <p:nvPr/>
        </p:nvSpPr>
        <p:spPr>
          <a:xfrm>
            <a:off x="4684000" y="3260000"/>
            <a:ext cx="380000" cy="380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tb44"/>
          <p:cNvSpPr txBox="1"/>
          <p:nvPr/>
        </p:nvSpPr>
        <p:spPr>
          <a:xfrm>
            <a:off x="560000" y="1768000"/>
            <a:ext cx="3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0D1117"/>
                </a:solidFill>
              </a:rPr>
              <a:t>/</a:t>
            </a:r>
          </a:p>
        </p:txBody>
      </p:sp>
      <p:sp>
        <p:nvSpPr>
          <p:cNvPr id="45" name="tb45"/>
          <p:cNvSpPr txBox="1"/>
          <p:nvPr/>
        </p:nvSpPr>
        <p:spPr>
          <a:xfrm>
            <a:off x="4684000" y="1768000"/>
            <a:ext cx="3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0D1117"/>
                </a:solidFill>
              </a:rPr>
              <a:t>/</a:t>
            </a:r>
          </a:p>
        </p:txBody>
      </p:sp>
      <p:sp>
        <p:nvSpPr>
          <p:cNvPr id="46" name="tb46"/>
          <p:cNvSpPr txBox="1"/>
          <p:nvPr/>
        </p:nvSpPr>
        <p:spPr>
          <a:xfrm>
            <a:off x="560000" y="3268000"/>
            <a:ext cx="3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0D1117"/>
                </a:solidFill>
              </a:rPr>
              <a:t>/</a:t>
            </a:r>
          </a:p>
        </p:txBody>
      </p:sp>
      <p:sp>
        <p:nvSpPr>
          <p:cNvPr id="47" name="tb47"/>
          <p:cNvSpPr txBox="1"/>
          <p:nvPr/>
        </p:nvSpPr>
        <p:spPr>
          <a:xfrm>
            <a:off x="4684000" y="3268000"/>
            <a:ext cx="38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0D1117"/>
                </a:solidFill>
              </a:rPr>
              <a:t>/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1040000" y="1760000"/>
            <a:ext cx="3080000" cy="4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500" b="1" i="0">
                <a:solidFill>
                  <a:srgbClr val="FFFFFF"/>
                </a:solidFill>
              </a:rPr>
              <a:t>main.py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5164000" y="1760000"/>
            <a:ext cx="3080000" cy="4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500" b="1" i="0">
                <a:solidFill>
                  <a:srgbClr val="FFFFFF"/>
                </a:solidFill>
              </a:rPr>
              <a:t>extractors/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1040000" y="3260000"/>
            <a:ext cx="3080000" cy="4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500" b="1" i="0">
                <a:solidFill>
                  <a:srgbClr val="FFFFFF"/>
                </a:solidFill>
              </a:rPr>
              <a:t>planner/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5164000" y="3260000"/>
            <a:ext cx="3080000" cy="4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500" b="1" i="0">
                <a:solidFill>
                  <a:srgbClr val="FFFFFF"/>
                </a:solidFill>
              </a:rPr>
              <a:t>pddl/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1040000" y="2300000"/>
            <a:ext cx="308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>
                <a:solidFill>
                  <a:srgbClr val="8B949E"/>
                </a:solidFill>
              </a:rPr>
              <a:t>Entry point — orchestrates the full pipeline execution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5164000" y="2300000"/>
            <a:ext cx="308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>
                <a:solidFill>
                  <a:srgbClr val="8B949E"/>
                </a:solidFill>
              </a:rPr>
              <a:t>Gathers permissions, binaries &amp; system state</a:t>
            </a:r>
          </a:p>
        </p:txBody>
      </p:sp>
      <p:sp>
        <p:nvSpPr>
          <p:cNvPr id="62" name="tb62"/>
          <p:cNvSpPr txBox="1"/>
          <p:nvPr/>
        </p:nvSpPr>
        <p:spPr>
          <a:xfrm>
            <a:off x="1040000" y="3800000"/>
            <a:ext cx="308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>
                <a:solidFill>
                  <a:srgbClr val="8B949E"/>
                </a:solidFill>
              </a:rPr>
              <a:t>AI planning logic — search over attack paths</a:t>
            </a:r>
          </a:p>
        </p:txBody>
      </p:sp>
      <p:sp>
        <p:nvSpPr>
          <p:cNvPr id="63" name="tb63"/>
          <p:cNvSpPr txBox="1"/>
          <p:nvPr/>
        </p:nvSpPr>
        <p:spPr>
          <a:xfrm>
            <a:off x="5164000" y="3800000"/>
            <a:ext cx="308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>
                <a:solidFill>
                  <a:srgbClr val="8B949E"/>
                </a:solidFill>
              </a:rPr>
              <a:t>Generates PDDL domain &amp; problem files from state</a:t>
            </a:r>
          </a:p>
        </p:txBody>
      </p:sp>
      <p:sp>
        <p:nvSpPr>
          <p:cNvPr id="70" name="card70"/>
          <p:cNvSpPr>
            <a:spLocks noGrp="1"/>
          </p:cNvSpPr>
          <p:nvPr/>
        </p:nvSpPr>
        <p:spPr>
          <a:xfrm>
            <a:off x="460000" y="4750000"/>
            <a:ext cx="8224000" cy="5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tb71"/>
          <p:cNvSpPr txBox="1"/>
          <p:nvPr/>
        </p:nvSpPr>
        <p:spPr>
          <a:xfrm>
            <a:off x="700000" y="4820000"/>
            <a:ext cx="77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100" b="0" i="1">
                <a:solidFill>
                  <a:srgbClr val="8B949E"/>
                </a:solidFill>
              </a:rPr>
              <a:t>pip install -r requirements.txt  ·  Python 3.8+  ·  FastDownward planner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opBar"/>
          <p:cNvSpPr>
            <a:spLocks noGrp="1"/>
          </p:cNvSpPr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000" y="0"/>
            <a:ext cx="8200000" cy="760000"/>
          </a:xfrm>
        </p:spPr>
        <p:txBody>
          <a:bodyPr anchor="ctr"/>
          <a:lstStyle/>
          <a:p>
            <a:pPr algn="l"/>
            <a:r>
              <a:rPr lang="en-US" sz="2400" b="1">
                <a:solidFill>
                  <a:srgbClr val="58A6FF"/>
                </a:solidFill>
              </a:rPr>
              <a:t>How the Code Works</a:t>
            </a:r>
          </a:p>
        </p:txBody>
      </p:sp>
      <p:sp>
        <p:nvSpPr>
          <p:cNvPr id="20" name="card20"/>
          <p:cNvSpPr>
            <a:spLocks noGrp="1"/>
          </p:cNvSpPr>
          <p:nvPr/>
        </p:nvSpPr>
        <p:spPr>
          <a:xfrm>
            <a:off x="460000" y="950000"/>
            <a:ext cx="4400000" cy="47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b25"/>
          <p:cNvSpPr txBox="1"/>
          <p:nvPr/>
        </p:nvSpPr>
        <p:spPr>
          <a:xfrm>
            <a:off x="600000" y="1000000"/>
            <a:ext cx="41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000" b="1" i="0">
                <a:solidFill>
                  <a:srgbClr val="58A6FF"/>
                </a:solidFill>
              </a:rPr>
              <a:t>EXECUTION FLOW</a:t>
            </a:r>
          </a:p>
        </p:txBody>
      </p:sp>
      <p:sp>
        <p:nvSpPr>
          <p:cNvPr id="30" name="card30"/>
          <p:cNvSpPr>
            <a:spLocks noGrp="1"/>
          </p:cNvSpPr>
          <p:nvPr/>
        </p:nvSpPr>
        <p:spPr>
          <a:xfrm>
            <a:off x="580000" y="1450000"/>
            <a:ext cx="4150000" cy="6000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ard31"/>
          <p:cNvSpPr>
            <a:spLocks noGrp="1"/>
          </p:cNvSpPr>
          <p:nvPr/>
        </p:nvSpPr>
        <p:spPr>
          <a:xfrm>
            <a:off x="580000" y="2150000"/>
            <a:ext cx="4150000" cy="6000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card32"/>
          <p:cNvSpPr>
            <a:spLocks noGrp="1"/>
          </p:cNvSpPr>
          <p:nvPr/>
        </p:nvSpPr>
        <p:spPr>
          <a:xfrm>
            <a:off x="580000" y="2850000"/>
            <a:ext cx="4150000" cy="6000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card33"/>
          <p:cNvSpPr>
            <a:spLocks noGrp="1"/>
          </p:cNvSpPr>
          <p:nvPr/>
        </p:nvSpPr>
        <p:spPr>
          <a:xfrm>
            <a:off x="580000" y="3550000"/>
            <a:ext cx="4150000" cy="60000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ard34"/>
          <p:cNvSpPr>
            <a:spLocks noGrp="1"/>
          </p:cNvSpPr>
          <p:nvPr/>
        </p:nvSpPr>
        <p:spPr>
          <a:xfrm>
            <a:off x="580000" y="4250000"/>
            <a:ext cx="4150000" cy="600000"/>
          </a:xfrm>
          <a:prstGeom prst="roundRect">
            <a:avLst>
              <a:gd name="adj" fmla="val 10000"/>
            </a:avLst>
          </a:prstGeom>
          <a:solidFill>
            <a:srgbClr val="0F2A1E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dot40"/>
          <p:cNvSpPr>
            <a:spLocks noGrp="1"/>
          </p:cNvSpPr>
          <p:nvPr/>
        </p:nvSpPr>
        <p:spPr>
          <a:xfrm>
            <a:off x="620000" y="1490000"/>
            <a:ext cx="460000" cy="460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dot41"/>
          <p:cNvSpPr>
            <a:spLocks noGrp="1"/>
          </p:cNvSpPr>
          <p:nvPr/>
        </p:nvSpPr>
        <p:spPr>
          <a:xfrm>
            <a:off x="620000" y="2190000"/>
            <a:ext cx="460000" cy="460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dot42"/>
          <p:cNvSpPr>
            <a:spLocks noGrp="1"/>
          </p:cNvSpPr>
          <p:nvPr/>
        </p:nvSpPr>
        <p:spPr>
          <a:xfrm>
            <a:off x="620000" y="2890000"/>
            <a:ext cx="460000" cy="460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dot43"/>
          <p:cNvSpPr>
            <a:spLocks noGrp="1"/>
          </p:cNvSpPr>
          <p:nvPr/>
        </p:nvSpPr>
        <p:spPr>
          <a:xfrm>
            <a:off x="620000" y="3590000"/>
            <a:ext cx="460000" cy="460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dot44"/>
          <p:cNvSpPr>
            <a:spLocks noGrp="1"/>
          </p:cNvSpPr>
          <p:nvPr/>
        </p:nvSpPr>
        <p:spPr>
          <a:xfrm>
            <a:off x="620000" y="4290000"/>
            <a:ext cx="460000" cy="460000"/>
          </a:xfrm>
          <a:prstGeom prst="ellipse">
            <a:avLst/>
          </a:prstGeom>
          <a:solidFill>
            <a:srgbClr val="00FF9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tb50"/>
          <p:cNvSpPr txBox="1"/>
          <p:nvPr/>
        </p:nvSpPr>
        <p:spPr>
          <a:xfrm>
            <a:off x="620000" y="1495000"/>
            <a:ext cx="46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620000" y="2195000"/>
            <a:ext cx="46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620000" y="2895000"/>
            <a:ext cx="46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620000" y="3595000"/>
            <a:ext cx="46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620000" y="4295000"/>
            <a:ext cx="46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0D1117"/>
                </a:solidFill>
              </a:rPr>
              <a:t>✓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1180000" y="1500000"/>
            <a:ext cx="3400000" cy="4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300" b="1" i="0">
                <a:solidFill>
                  <a:srgbClr val="FFFFFF"/>
                </a:solidFill>
              </a:rPr>
              <a:t>Scan system permissions &amp; vulnerabilities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1180000" y="2200000"/>
            <a:ext cx="3400000" cy="4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300" b="1" i="0">
                <a:solidFill>
                  <a:srgbClr val="FFFFFF"/>
                </a:solidFill>
              </a:rPr>
              <a:t>Build planner states and actions (PDDL)</a:t>
            </a:r>
          </a:p>
        </p:txBody>
      </p:sp>
      <p:sp>
        <p:nvSpPr>
          <p:cNvPr id="62" name="tb62"/>
          <p:cNvSpPr txBox="1"/>
          <p:nvPr/>
        </p:nvSpPr>
        <p:spPr>
          <a:xfrm>
            <a:off x="1180000" y="2900000"/>
            <a:ext cx="3400000" cy="4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300" b="1" i="0">
                <a:solidFill>
                  <a:srgbClr val="FFFFFF"/>
                </a:solidFill>
              </a:rPr>
              <a:t>AI planner searches possible attack paths</a:t>
            </a:r>
          </a:p>
        </p:txBody>
      </p:sp>
      <p:sp>
        <p:nvSpPr>
          <p:cNvPr id="63" name="tb63"/>
          <p:cNvSpPr txBox="1"/>
          <p:nvPr/>
        </p:nvSpPr>
        <p:spPr>
          <a:xfrm>
            <a:off x="1180000" y="3600000"/>
            <a:ext cx="3400000" cy="4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300" b="1" i="0">
                <a:solidFill>
                  <a:srgbClr val="FFFFFF"/>
                </a:solidFill>
              </a:rPr>
              <a:t>Tool outputs privilege escalation chain</a:t>
            </a:r>
          </a:p>
        </p:txBody>
      </p:sp>
      <p:sp>
        <p:nvSpPr>
          <p:cNvPr id="64" name="tb64"/>
          <p:cNvSpPr txBox="1"/>
          <p:nvPr/>
        </p:nvSpPr>
        <p:spPr>
          <a:xfrm>
            <a:off x="1180000" y="4300000"/>
            <a:ext cx="3400000" cy="4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300" b="1" i="0">
                <a:solidFill>
                  <a:srgbClr val="00FF9F"/>
                </a:solidFill>
              </a:rPr>
              <a:t>Combines vulns + legitimate commands</a:t>
            </a:r>
          </a:p>
        </p:txBody>
      </p:sp>
      <p:sp>
        <p:nvSpPr>
          <p:cNvPr id="70" name="tb70"/>
          <p:cNvSpPr txBox="1"/>
          <p:nvPr/>
        </p:nvSpPr>
        <p:spPr>
          <a:xfrm>
            <a:off x="5100000" y="950000"/>
            <a:ext cx="37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600" b="1" i="0">
                <a:solidFill>
                  <a:srgbClr val="FFFFFF"/>
                </a:solidFill>
              </a:rPr>
              <a:t>Key Concept</a:t>
            </a:r>
          </a:p>
        </p:txBody>
      </p:sp>
      <p:sp>
        <p:nvSpPr>
          <p:cNvPr id="71" name="card71"/>
          <p:cNvSpPr>
            <a:spLocks noGrp="1"/>
          </p:cNvSpPr>
          <p:nvPr/>
        </p:nvSpPr>
        <p:spPr>
          <a:xfrm>
            <a:off x="5100000" y="1450000"/>
            <a:ext cx="3700000" cy="3800000"/>
          </a:xfrm>
          <a:prstGeom prst="roundRect">
            <a:avLst>
              <a:gd name="adj" fmla="val 10000"/>
            </a:avLst>
          </a:prstGeom>
          <a:solidFill>
            <a:srgbClr val="1A1F28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tb72"/>
          <p:cNvSpPr txBox="1"/>
          <p:nvPr/>
        </p:nvSpPr>
        <p:spPr>
          <a:xfrm>
            <a:off x="5280000" y="1540000"/>
            <a:ext cx="3340000" cy="36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>
                <a:solidFill>
                  <a:srgbClr val="8B949E"/>
                </a:solidFill>
              </a:rPr>
              <a:t>ChainReactor doesn’t just find individual vulnerabilities — it finds the path from ordinary user to root, linking misconfigs, sudo rules, and SUID binaries into a complete attack chain.
This mirrors how real adversaries operate: chaining small weaknesses into full system compromise.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opBar"/>
          <p:cNvSpPr>
            <a:spLocks noGrp="1"/>
          </p:cNvSpPr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000" y="0"/>
            <a:ext cx="8200000" cy="760000"/>
          </a:xfrm>
        </p:spPr>
        <p:txBody>
          <a:bodyPr anchor="ctr"/>
          <a:lstStyle/>
          <a:p>
            <a:pPr algn="l"/>
            <a:r>
              <a:rPr lang="en-US" sz="2400" b="1">
                <a:solidFill>
                  <a:srgbClr val="00FF9F"/>
                </a:solidFill>
              </a:rPr>
              <a:t>Running the Project (Demo)</a:t>
            </a:r>
          </a:p>
        </p:txBody>
      </p:sp>
      <p:sp>
        <p:nvSpPr>
          <p:cNvPr id="20" name="card20"/>
          <p:cNvSpPr>
            <a:spLocks noGrp="1"/>
          </p:cNvSpPr>
          <p:nvPr/>
        </p:nvSpPr>
        <p:spPr>
          <a:xfrm>
            <a:off x="460000" y="950000"/>
            <a:ext cx="8224000" cy="34000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rmbar"/>
          <p:cNvSpPr>
            <a:spLocks noGrp="1"/>
          </p:cNvSpPr>
          <p:nvPr/>
        </p:nvSpPr>
        <p:spPr>
          <a:xfrm>
            <a:off x="460000" y="950000"/>
            <a:ext cx="8224000" cy="44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dot22"/>
          <p:cNvSpPr>
            <a:spLocks noGrp="1"/>
          </p:cNvSpPr>
          <p:nvPr/>
        </p:nvSpPr>
        <p:spPr>
          <a:xfrm>
            <a:off x="580000" y="1010000"/>
            <a:ext cx="200000" cy="2000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dot23"/>
          <p:cNvSpPr>
            <a:spLocks noGrp="1"/>
          </p:cNvSpPr>
          <p:nvPr/>
        </p:nvSpPr>
        <p:spPr>
          <a:xfrm>
            <a:off x="840000" y="1010000"/>
            <a:ext cx="200000" cy="2000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dot24"/>
          <p:cNvSpPr>
            <a:spLocks noGrp="1"/>
          </p:cNvSpPr>
          <p:nvPr/>
        </p:nvSpPr>
        <p:spPr>
          <a:xfrm>
            <a:off x="1100000" y="1010000"/>
            <a:ext cx="200000" cy="2000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b25"/>
          <p:cNvSpPr txBox="1"/>
          <p:nvPr/>
        </p:nvSpPr>
        <p:spPr>
          <a:xfrm>
            <a:off x="1400000" y="990000"/>
            <a:ext cx="50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900" b="0" i="0">
                <a:solidFill>
                  <a:srgbClr val="8B949E"/>
                </a:solidFill>
              </a:rPr>
              <a:t>chainreactor — bash — 80x24</a:t>
            </a:r>
          </a:p>
        </p:txBody>
      </p:sp>
      <p:sp>
        <p:nvSpPr>
          <p:cNvPr id="30" name="ml30"/>
          <p:cNvSpPr txBox="1"/>
          <p:nvPr/>
        </p:nvSpPr>
        <p:spPr>
          <a:xfrm>
            <a:off x="700000" y="1530000"/>
            <a:ext cx="7700000" cy="2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00FF9F"/>
                </a:solidFill>
              </a:rPr>
              <a:t>$  </a:t>
            </a:r>
            <a:r>
              <a:rPr lang="en-US" sz="1200">
                <a:solidFill>
                  <a:srgbClr val="58A6FF"/>
                </a:solidFill>
              </a:rPr>
              <a:t>git clone https://github.com/ucsb-seclab/chainreactor.git</a:t>
            </a:r>
          </a:p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00FF9F"/>
                </a:solidFill>
              </a:rPr>
              <a:t>$  </a:t>
            </a:r>
            <a:r>
              <a:rPr lang="en-US" sz="1200">
                <a:solidFill>
                  <a:srgbClr val="58A6FF"/>
                </a:solidFill>
              </a:rPr>
              <a:t>cd chainreactor</a:t>
            </a:r>
          </a:p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00FF9F"/>
                </a:solidFill>
              </a:rPr>
              <a:t>$  </a:t>
            </a:r>
            <a:r>
              <a:rPr lang="en-US" sz="1200">
                <a:solidFill>
                  <a:srgbClr val="58A6FF"/>
                </a:solidFill>
              </a:rPr>
              <a:t>pip install -r requirements.txt</a:t>
            </a:r>
          </a:p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00FF9F"/>
                </a:solidFill>
              </a:rPr>
              <a:t>$  </a:t>
            </a:r>
            <a:r>
              <a:rPr lang="en-US" sz="1200">
                <a:solidFill>
                  <a:srgbClr val="58A6FF"/>
                </a:solidFill>
              </a:rPr>
              <a:t>python main.py</a:t>
            </a:r>
          </a:p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00FF9F"/>
                </a:solidFill>
              </a:rPr>
              <a:t>  </a:t>
            </a:r>
          </a:p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00FF9F"/>
                </a:solidFill>
              </a:rPr>
              <a:t>→  </a:t>
            </a:r>
            <a:r>
              <a:rPr lang="en-US" sz="1200">
                <a:solidFill>
                  <a:srgbClr val="58A6FF"/>
                </a:solidFill>
              </a:rPr>
              <a:t>Scanning system... found 12 exploitable conditions</a:t>
            </a:r>
          </a:p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00FF9F"/>
                </a:solidFill>
              </a:rPr>
              <a:t>→  </a:t>
            </a:r>
            <a:r>
              <a:rPr lang="en-US" sz="1200">
                <a:solidFill>
                  <a:srgbClr val="58A6FF"/>
                </a:solidFill>
              </a:rPr>
              <a:t>Building PDDL model...</a:t>
            </a:r>
          </a:p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00FF9F"/>
                </a:solidFill>
              </a:rPr>
              <a:t>→  </a:t>
            </a:r>
            <a:r>
              <a:rPr lang="en-US" sz="1200">
                <a:solidFill>
                  <a:srgbClr val="58A6FF"/>
                </a:solidFill>
              </a:rPr>
              <a:t>Planner found escalation path to root [5 steps]</a:t>
            </a:r>
          </a:p>
        </p:txBody>
      </p:sp>
      <p:sp>
        <p:nvSpPr>
          <p:cNvPr id="40" name="card40"/>
          <p:cNvSpPr>
            <a:spLocks noGrp="1"/>
          </p:cNvSpPr>
          <p:nvPr/>
        </p:nvSpPr>
        <p:spPr>
          <a:xfrm>
            <a:off x="460000" y="4600000"/>
            <a:ext cx="8224000" cy="700000"/>
          </a:xfrm>
          <a:prstGeom prst="roundRect">
            <a:avLst>
              <a:gd name="adj" fmla="val 10000"/>
            </a:avLst>
          </a:prstGeom>
          <a:solidFill>
            <a:srgbClr val="0F2A1E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b41"/>
          <p:cNvSpPr txBox="1"/>
          <p:nvPr/>
        </p:nvSpPr>
        <p:spPr>
          <a:xfrm>
            <a:off x="700000" y="4680000"/>
            <a:ext cx="770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300" b="0" i="0">
                <a:solidFill>
                  <a:srgbClr val="00FF9F"/>
                </a:solidFill>
              </a:rPr>
              <a:t>Output: Planner discovers escalation path to root access — complete chain with commands printed to stdout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opBar"/>
          <p:cNvSpPr>
            <a:spLocks noGrp="1"/>
          </p:cNvSpPr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000" y="0"/>
            <a:ext cx="8200000" cy="760000"/>
          </a:xfrm>
        </p:spPr>
        <p:txBody>
          <a:bodyPr anchor="ctr"/>
          <a:lstStyle/>
          <a:p>
            <a:pPr algn="l"/>
            <a:r>
              <a:rPr lang="en-US" sz="2400" b="1">
                <a:solidFill>
                  <a:srgbClr val="00FF9F"/>
                </a:solidFill>
              </a:rPr>
              <a:t>Results &amp; Impact</a:t>
            </a:r>
          </a:p>
        </p:txBody>
      </p:sp>
      <p:sp>
        <p:nvSpPr>
          <p:cNvPr id="20" name="card20"/>
          <p:cNvSpPr>
            <a:spLocks noGrp="1"/>
          </p:cNvSpPr>
          <p:nvPr/>
        </p:nvSpPr>
        <p:spPr>
          <a:xfrm>
            <a:off x="460000" y="950000"/>
            <a:ext cx="1850000" cy="1500000"/>
          </a:xfrm>
          <a:prstGeom prst="roundRect">
            <a:avLst>
              <a:gd name="adj" fmla="val 10000"/>
            </a:avLst>
          </a:prstGeom>
          <a:solidFill>
            <a:srgbClr val="0F2A1E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ard21"/>
          <p:cNvSpPr>
            <a:spLocks noGrp="1"/>
          </p:cNvSpPr>
          <p:nvPr/>
        </p:nvSpPr>
        <p:spPr>
          <a:xfrm>
            <a:off x="2480000" y="950000"/>
            <a:ext cx="1850000" cy="1500000"/>
          </a:xfrm>
          <a:prstGeom prst="roundRect">
            <a:avLst>
              <a:gd name="adj" fmla="val 10000"/>
            </a:avLst>
          </a:prstGeom>
          <a:solidFill>
            <a:srgbClr val="0F2A1E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card22"/>
          <p:cNvSpPr>
            <a:spLocks noGrp="1"/>
          </p:cNvSpPr>
          <p:nvPr/>
        </p:nvSpPr>
        <p:spPr>
          <a:xfrm>
            <a:off x="4500000" y="950000"/>
            <a:ext cx="1850000" cy="1500000"/>
          </a:xfrm>
          <a:prstGeom prst="roundRect">
            <a:avLst>
              <a:gd name="adj" fmla="val 10000"/>
            </a:avLst>
          </a:prstGeom>
          <a:solidFill>
            <a:srgbClr val="0F2A1E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card23"/>
          <p:cNvSpPr>
            <a:spLocks noGrp="1"/>
          </p:cNvSpPr>
          <p:nvPr/>
        </p:nvSpPr>
        <p:spPr>
          <a:xfrm>
            <a:off x="6520000" y="950000"/>
            <a:ext cx="1850000" cy="1500000"/>
          </a:xfrm>
          <a:prstGeom prst="roundRect">
            <a:avLst>
              <a:gd name="adj" fmla="val 10000"/>
            </a:avLst>
          </a:prstGeom>
          <a:solidFill>
            <a:srgbClr val="142A1F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tb30"/>
          <p:cNvSpPr txBox="1"/>
          <p:nvPr/>
        </p:nvSpPr>
        <p:spPr>
          <a:xfrm>
            <a:off x="560000" y="1080000"/>
            <a:ext cx="165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3200" b="1" i="0">
                <a:solidFill>
                  <a:srgbClr val="58A6FF"/>
                </a:solidFill>
              </a:rPr>
              <a:t>VMs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2580000" y="1080000"/>
            <a:ext cx="165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3200" b="1" i="0">
                <a:solidFill>
                  <a:srgbClr val="58A6FF"/>
                </a:solidFill>
              </a:rPr>
              <a:t>Cloud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4600000" y="1080000"/>
            <a:ext cx="165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3200" b="1" i="0">
                <a:solidFill>
                  <a:srgbClr val="58A6FF"/>
                </a:solidFill>
              </a:rPr>
              <a:t>Known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6620000" y="1080000"/>
            <a:ext cx="165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3200" b="1" i="0">
                <a:solidFill>
                  <a:srgbClr val="00FF9F"/>
                </a:solidFill>
              </a:rPr>
              <a:t>Novel</a:t>
            </a:r>
          </a:p>
        </p:txBody>
      </p:sp>
      <p:sp>
        <p:nvSpPr>
          <p:cNvPr id="34" name="tb34"/>
          <p:cNvSpPr txBox="1"/>
          <p:nvPr/>
        </p:nvSpPr>
        <p:spPr>
          <a:xfrm>
            <a:off x="560000" y="1700000"/>
            <a:ext cx="165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000" b="0" i="0">
                <a:solidFill>
                  <a:srgbClr val="8B949E"/>
                </a:solidFill>
              </a:rPr>
              <a:t>Tested on vulnerable
virtual machines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2580000" y="1700000"/>
            <a:ext cx="165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000" b="0" i="0">
                <a:solidFill>
                  <a:srgbClr val="8B949E"/>
                </a:solidFill>
              </a:rPr>
              <a:t>Tested on real
cloud systems</a:t>
            </a:r>
          </a:p>
        </p:txBody>
      </p:sp>
      <p:sp>
        <p:nvSpPr>
          <p:cNvPr id="36" name="tb36"/>
          <p:cNvSpPr txBox="1"/>
          <p:nvPr/>
        </p:nvSpPr>
        <p:spPr>
          <a:xfrm>
            <a:off x="4600000" y="1700000"/>
            <a:ext cx="165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000" b="0" i="0">
                <a:solidFill>
                  <a:srgbClr val="8B949E"/>
                </a:solidFill>
              </a:rPr>
              <a:t>Rediscovered known
exploit chains</a:t>
            </a:r>
          </a:p>
        </p:txBody>
      </p:sp>
      <p:sp>
        <p:nvSpPr>
          <p:cNvPr id="37" name="tb37"/>
          <p:cNvSpPr txBox="1"/>
          <p:nvPr/>
        </p:nvSpPr>
        <p:spPr>
          <a:xfrm>
            <a:off x="6620000" y="1700000"/>
            <a:ext cx="165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000" b="0" i="0">
                <a:solidFill>
                  <a:srgbClr val="00FF9F"/>
                </a:solidFill>
              </a:rPr>
              <a:t>Found previously
unknown paths</a:t>
            </a:r>
          </a:p>
        </p:txBody>
      </p:sp>
      <p:sp>
        <p:nvSpPr>
          <p:cNvPr id="40" name="card40"/>
          <p:cNvSpPr>
            <a:spLocks noGrp="1"/>
          </p:cNvSpPr>
          <p:nvPr/>
        </p:nvSpPr>
        <p:spPr>
          <a:xfrm>
            <a:off x="460000" y="2700000"/>
            <a:ext cx="3900000" cy="16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ard41"/>
          <p:cNvSpPr>
            <a:spLocks noGrp="1"/>
          </p:cNvSpPr>
          <p:nvPr/>
        </p:nvSpPr>
        <p:spPr>
          <a:xfrm>
            <a:off x="4584000" y="2700000"/>
            <a:ext cx="3900000" cy="16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tb50"/>
          <p:cNvSpPr txBox="1"/>
          <p:nvPr/>
        </p:nvSpPr>
        <p:spPr>
          <a:xfrm>
            <a:off x="600000" y="2760000"/>
            <a:ext cx="36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58A6FF"/>
                </a:solidFill>
              </a:rPr>
              <a:t>Validation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4724000" y="2760000"/>
            <a:ext cx="36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400" b="1" i="0">
                <a:solidFill>
                  <a:srgbClr val="58A6FF"/>
                </a:solidFill>
              </a:rPr>
              <a:t>Practical Impact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600000" y="3260000"/>
            <a:ext cx="3600000" cy="9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>
                <a:solidFill>
                  <a:srgbClr val="8B949E"/>
                </a:solidFill>
              </a:rPr>
              <a:t>Tested against standard CTF-style vulnerable VMs and real cloud environments, correctly reproducing documented escalation chains.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4724000" y="3260000"/>
            <a:ext cx="3600000" cy="9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>
                <a:solidFill>
                  <a:srgbClr val="8B949E"/>
                </a:solidFill>
              </a:rPr>
              <a:t>Demonstrated practical AI-driven penetration testing — shows that automated planners can rival manual red-team analysis.</a:t>
            </a:r>
          </a:p>
        </p:txBody>
      </p:sp>
      <p:sp>
        <p:nvSpPr>
          <p:cNvPr id="60" name="card60"/>
          <p:cNvSpPr>
            <a:spLocks noGrp="1"/>
          </p:cNvSpPr>
          <p:nvPr/>
        </p:nvSpPr>
        <p:spPr>
          <a:xfrm>
            <a:off x="460000" y="4560000"/>
            <a:ext cx="8224000" cy="580000"/>
          </a:xfrm>
          <a:prstGeom prst="roundRect">
            <a:avLst>
              <a:gd name="adj" fmla="val 10000"/>
            </a:avLst>
          </a:prstGeom>
          <a:solidFill>
            <a:srgbClr val="0F2A1E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tb61"/>
          <p:cNvSpPr txBox="1"/>
          <p:nvPr/>
        </p:nvSpPr>
        <p:spPr>
          <a:xfrm>
            <a:off x="700000" y="4630000"/>
            <a:ext cx="770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300" b="0" i="1">
                <a:solidFill>
                  <a:srgbClr val="00FF9F"/>
                </a:solidFill>
              </a:rPr>
              <a:t>First tool to use AI planning for automated, multi-step privilege escalation discovery at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opBar"/>
          <p:cNvSpPr>
            <a:spLocks noGrp="1"/>
          </p:cNvSpPr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000" y="0"/>
            <a:ext cx="8200000" cy="760000"/>
          </a:xfrm>
        </p:spPr>
        <p:txBody>
          <a:bodyPr anchor="ctr"/>
          <a:lstStyle/>
          <a:p>
            <a:pPr algn="l"/>
            <a:r>
              <a:rPr lang="en-US" sz="2400" b="1">
                <a:solidFill>
                  <a:srgbClr val="58A6FF"/>
                </a:solidFill>
              </a:rPr>
              <a:t>Limitations &amp; Future Improvements</a:t>
            </a:r>
          </a:p>
        </p:txBody>
      </p:sp>
      <p:sp>
        <p:nvSpPr>
          <p:cNvPr id="20" name="card20"/>
          <p:cNvSpPr>
            <a:spLocks noGrp="1"/>
          </p:cNvSpPr>
          <p:nvPr/>
        </p:nvSpPr>
        <p:spPr>
          <a:xfrm>
            <a:off x="460000" y="950000"/>
            <a:ext cx="3800000" cy="47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b21"/>
          <p:cNvSpPr txBox="1"/>
          <p:nvPr/>
        </p:nvSpPr>
        <p:spPr>
          <a:xfrm>
            <a:off x="600000" y="1000000"/>
            <a:ext cx="35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500" b="1" i="0">
                <a:solidFill>
                  <a:srgbClr val="FF6B6B"/>
                </a:solidFill>
              </a:rPr>
              <a:t>Current Limitations</a:t>
            </a:r>
          </a:p>
        </p:txBody>
      </p:sp>
      <p:sp>
        <p:nvSpPr>
          <p:cNvPr id="22" name="ml22"/>
          <p:cNvSpPr txBox="1"/>
          <p:nvPr/>
        </p:nvSpPr>
        <p:spPr>
          <a:xfrm>
            <a:off x="620000" y="1500000"/>
            <a:ext cx="3580000" cy="40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FF6B6B"/>
                </a:solidFill>
              </a:rPr>
              <a:t>Linux only  </a:t>
            </a:r>
            <a:r>
              <a:rPr lang="en-US" sz="1200">
                <a:solidFill>
                  <a:srgbClr val="8B949E"/>
                </a:solidFill>
              </a:rPr>
              <a:t>Windows &amp; Kubernetes not yet supported</a:t>
            </a:r>
          </a:p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FF6B6B"/>
                </a:solidFill>
              </a:rPr>
              <a:t>Scale cost  </a:t>
            </a:r>
            <a:r>
              <a:rPr lang="en-US" sz="1200">
                <a:solidFill>
                  <a:srgbClr val="8B949E"/>
                </a:solidFill>
              </a:rPr>
              <a:t>Planning gets expensive on large production systems</a:t>
            </a:r>
          </a:p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FF6B6B"/>
                </a:solidFill>
              </a:rPr>
              <a:t>Static model  </a:t>
            </a:r>
            <a:r>
              <a:rPr lang="en-US" sz="1200">
                <a:solidFill>
                  <a:srgbClr val="8B949E"/>
                </a:solidFill>
              </a:rPr>
              <a:t>System state must be recollected on each run</a:t>
            </a:r>
          </a:p>
          <a:p>
            <a:pPr algn="l">
              <a:lnSpc>
                <a:spcPts val="2000"/>
              </a:lnSpc>
            </a:pPr>
            <a:r>
              <a:rPr lang="en-US" sz="1200" b="1">
                <a:solidFill>
                  <a:srgbClr val="FF6B6B"/>
                </a:solidFill>
              </a:rPr>
              <a:t>No real-time  </a:t>
            </a:r>
            <a:r>
              <a:rPr lang="en-US" sz="1200">
                <a:solidFill>
                  <a:srgbClr val="8B949E"/>
                </a:solidFill>
              </a:rPr>
              <a:t>Designed for offline analysis, not live monitoring</a:t>
            </a:r>
          </a:p>
        </p:txBody>
      </p:sp>
      <p:sp>
        <p:nvSpPr>
          <p:cNvPr id="30" name="card30"/>
          <p:cNvSpPr>
            <a:spLocks noGrp="1"/>
          </p:cNvSpPr>
          <p:nvPr/>
        </p:nvSpPr>
        <p:spPr>
          <a:xfrm>
            <a:off x="4484000" y="950000"/>
            <a:ext cx="4200000" cy="4700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b31"/>
          <p:cNvSpPr txBox="1"/>
          <p:nvPr/>
        </p:nvSpPr>
        <p:spPr>
          <a:xfrm>
            <a:off x="4624000" y="1000000"/>
            <a:ext cx="39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500" b="1" i="0">
                <a:solidFill>
                  <a:srgbClr val="00FF9F"/>
                </a:solidFill>
              </a:rPr>
              <a:t>Roadmap</a:t>
            </a:r>
          </a:p>
        </p:txBody>
      </p:sp>
      <p:sp>
        <p:nvSpPr>
          <p:cNvPr id="40" name="card40"/>
          <p:cNvSpPr>
            <a:spLocks noGrp="1"/>
          </p:cNvSpPr>
          <p:nvPr/>
        </p:nvSpPr>
        <p:spPr>
          <a:xfrm>
            <a:off x="4584000" y="1460000"/>
            <a:ext cx="3980000" cy="720000"/>
          </a:xfrm>
          <a:prstGeom prst="roundRect">
            <a:avLst>
              <a:gd name="adj" fmla="val 10000"/>
            </a:avLst>
          </a:prstGeom>
          <a:solidFill>
            <a:srgbClr val="0F2A1E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ard41"/>
          <p:cNvSpPr>
            <a:spLocks noGrp="1"/>
          </p:cNvSpPr>
          <p:nvPr/>
        </p:nvSpPr>
        <p:spPr>
          <a:xfrm>
            <a:off x="4584000" y="2280000"/>
            <a:ext cx="3980000" cy="720000"/>
          </a:xfrm>
          <a:prstGeom prst="roundRect">
            <a:avLst>
              <a:gd name="adj" fmla="val 10000"/>
            </a:avLst>
          </a:prstGeom>
          <a:solidFill>
            <a:srgbClr val="0F2A1E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card42"/>
          <p:cNvSpPr>
            <a:spLocks noGrp="1"/>
          </p:cNvSpPr>
          <p:nvPr/>
        </p:nvSpPr>
        <p:spPr>
          <a:xfrm>
            <a:off x="4584000" y="3100000"/>
            <a:ext cx="3980000" cy="720000"/>
          </a:xfrm>
          <a:prstGeom prst="roundRect">
            <a:avLst>
              <a:gd name="adj" fmla="val 10000"/>
            </a:avLst>
          </a:prstGeom>
          <a:solidFill>
            <a:srgbClr val="0F2A1E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card43"/>
          <p:cNvSpPr>
            <a:spLocks noGrp="1"/>
          </p:cNvSpPr>
          <p:nvPr/>
        </p:nvSpPr>
        <p:spPr>
          <a:xfrm>
            <a:off x="4584000" y="3920000"/>
            <a:ext cx="3980000" cy="720000"/>
          </a:xfrm>
          <a:prstGeom prst="roundRect">
            <a:avLst>
              <a:gd name="adj" fmla="val 10000"/>
            </a:avLst>
          </a:prstGeom>
          <a:solidFill>
            <a:srgbClr val="142A1F"/>
          </a:solidFill>
          <a:ln w="190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tb50"/>
          <p:cNvSpPr txBox="1"/>
          <p:nvPr/>
        </p:nvSpPr>
        <p:spPr>
          <a:xfrm>
            <a:off x="4724000" y="1520000"/>
            <a:ext cx="3720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>
                <a:solidFill>
                  <a:srgbClr val="FFFFFF"/>
                </a:solidFill>
              </a:rPr>
              <a:t>LLM Integration — natural language attack reasoning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4724000" y="2340000"/>
            <a:ext cx="3720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>
                <a:solidFill>
                  <a:srgbClr val="FFFFFF"/>
                </a:solidFill>
              </a:rPr>
              <a:t>Windows + Kubernetes — cross-platform support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4724000" y="3160000"/>
            <a:ext cx="3720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0" i="0">
                <a:solidFill>
                  <a:srgbClr val="FFFFFF"/>
                </a:solidFill>
              </a:rPr>
              <a:t>Faster Planning — optimized search algorithms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4724000" y="3980000"/>
            <a:ext cx="3720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en-US" sz="1200" b="1" i="0">
                <a:solidFill>
                  <a:srgbClr val="00FF9F"/>
                </a:solidFill>
              </a:rPr>
              <a:t>Real-time Autonomous Security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614</Words>
  <Application>Microsoft Office PowerPoint</Application>
  <PresentationFormat>On-screen Show (4:3)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ChainReactor Automated Privilege Escalation Chain Discovery via AI Planning</vt:lpstr>
      <vt:lpstr>Background &amp; Problem Statement</vt:lpstr>
      <vt:lpstr>Core Idea of ChainReactor</vt:lpstr>
      <vt:lpstr>System Architecture</vt:lpstr>
      <vt:lpstr>GitHub Repository &amp; Code Structure</vt:lpstr>
      <vt:lpstr>How the Code Works</vt:lpstr>
      <vt:lpstr>Running the Project (Demo)</vt:lpstr>
      <vt:lpstr>Results &amp; Impact</vt:lpstr>
      <vt:lpstr>Limitations &amp; 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Jaswant Arora</cp:lastModifiedBy>
  <cp:revision>2</cp:revision>
  <dcterms:created xsi:type="dcterms:W3CDTF">2013-01-27T09:14:16Z</dcterms:created>
  <dcterms:modified xsi:type="dcterms:W3CDTF">2026-05-08T22:37:56Z</dcterms:modified>
  <cp:category/>
</cp:coreProperties>
</file>